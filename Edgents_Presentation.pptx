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0000"/>
                </a:solidFill>
                <a:latin typeface="Calibri"/>
              </a:rPr>
              <a:t>EDGENTS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788920"/>
            <a:ext cx="57881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55555"/>
                </a:solidFill>
                <a:latin typeface="Calibri"/>
              </a:rPr>
              <a:t>Coordinating Autonomous UAV Swarms via
Locally-Deployed Small Language Model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44368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Devrajsinh Gohil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0156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Calibri"/>
              </a:rPr>
              <a:t>School of Engineering &amp; Technology  ·  Dhirubhai Ambani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6732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Supervisor: Prof. Dr. Tapas Kumar Maiti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1.  Problem &amp;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51660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43100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2.  Proposed Solution — Edgents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79776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71216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3.  System Topology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07892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99332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4.  Complete System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36008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727448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5.  Pilot Agent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64124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655564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6.  Four-Layer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923544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014984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7.  Safety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3952" y="1851660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943100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8.  Inter-Agent Protocol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3952" y="2779776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2871216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9.  Experimental Setup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3707892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3799332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10.  Key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4636008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4727448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11.  Discussion &amp; Limitations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5564124"/>
            <a:ext cx="5257800" cy="854964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5655564"/>
            <a:ext cx="49834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12.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5394960" cy="2286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014984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Existing Control Paradigms Are Brittle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417320"/>
            <a:ext cx="513892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Pre-programmed missions fail on environmental change.
Cloud-based AI creates latency, network dependency,
and data-sovereignty risks.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10712"/>
            <a:ext cx="5394960" cy="308152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502152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Applying LLMs to UAVs Is Non-Trivial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04488"/>
            <a:ext cx="51389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• Hallucination — impossible flight commands
• Grounding — live sensor data needed every cycle
• Coordination — consensus on limited bandwidth
• Latency — PX4 OFFBOARD 2-second keepalive timeout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923544"/>
            <a:ext cx="5394960" cy="5568696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014984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The Gap We Fill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417320"/>
            <a:ext cx="5138928" cy="5001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No existing system provides:
✓  Local SLM inference on
    commodity hardware
✓  Multi-agent coordination
    without cloud connectivity
✓  Deterministic safety layer
    decoupled from AI
✓  Open reproducible eval
    on PX4 SITL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Proposed Solution — Edgents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Calibri"/>
              </a:rPr>
              <a:t>Each drone runs a locally-deployed Small Language Model as its brain — no cloud, no internet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46504"/>
            <a:ext cx="2715768" cy="4745736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837944"/>
            <a:ext cx="2459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Four-Layer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240280"/>
            <a:ext cx="2459736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Sensor → Safety → Intelligence → Execution.
Deterministic safety layer cannot be overridden.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746504"/>
            <a:ext cx="2715768" cy="4745736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1837944"/>
            <a:ext cx="2459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ECoT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240280"/>
            <a:ext cx="2459736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Forces thought before action selection.
Cuts format hallucination by ~75%.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746504"/>
            <a:ext cx="2715768" cy="4745736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837944"/>
            <a:ext cx="2459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9-Message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240280"/>
            <a:ext cx="2459736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Complete mission coordination in as few
as 9 envelope messages. &lt; 1.1 KB total.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5984" y="1746504"/>
            <a:ext cx="2715768" cy="4745736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837944"/>
            <a:ext cx="2459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Open Evaluation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240280"/>
            <a:ext cx="2459736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PX4 SITL + Gazebo Harmonic + ROS 2.
Fully reproducible.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System Topology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4480560" cy="4937760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14984"/>
            <a:ext cx="4261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PC-1 — Lead  (10.34.211.86)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472184"/>
            <a:ext cx="4151376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PX4 SITL  Drone-0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551176"/>
            <a:ext cx="4151376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Lead ROS 2 Stack  (10 nodes)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630168"/>
            <a:ext cx="4151376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85032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Ollama  ·  Qwen3.5 2B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709160"/>
            <a:ext cx="4151376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64024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GCS  (STT / TTS / Monitor)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51192" y="923544"/>
            <a:ext cx="4480560" cy="4937760"/>
          </a:xfrm>
          <a:prstGeom prst="rect">
            <a:avLst/>
          </a:prstGeom>
          <a:solidFill>
            <a:srgbClr val="EEEEE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014984"/>
            <a:ext cx="4261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PC-2 — Wingman  (10.34.211.15)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15784" y="1472184"/>
            <a:ext cx="4151376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527048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PX4 SITL  Drone-1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15784" y="2551176"/>
            <a:ext cx="4151376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26060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Wingman ROS 2 Stack  (3 nodes)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15784" y="3630168"/>
            <a:ext cx="4151376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3685032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Ollama  ·  Qwen3.5 2B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8928" y="2203704"/>
            <a:ext cx="19110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313432"/>
            <a:ext cx="176479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CycloneDDS WiFi
ROS_DOMAIN_ID=42
/agent/lead_to_wingman
/agent/wingman_to_lead
/safety/event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3015692"/>
            <a:ext cx="201168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4336" y="291693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0024" y="3015692"/>
            <a:ext cx="201168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91693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  <a:latin typeface="Calibri"/>
              </a:rPr>
              <a:t>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Complete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Two networked PCs sharing ROS_DOMAIN_ID=42 over WiFi 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56232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16152"/>
            <a:ext cx="22860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1216152"/>
            <a:ext cx="22860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98755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Human Operator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1289304"/>
            <a:ext cx="36728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344168"/>
            <a:ext cx="3544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🎙  Microphone / STT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8056" y="1289304"/>
            <a:ext cx="36728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2064" y="1344168"/>
            <a:ext cx="3544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🔊  Speaker / TTS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4904" y="1289304"/>
            <a:ext cx="36728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8912" y="1344168"/>
            <a:ext cx="3544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🖥  Terminal Monitor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268" y="1856232"/>
            <a:ext cx="22860" cy="2560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0512" y="1911096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12264"/>
            <a:ext cx="466344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473952"/>
            <a:ext cx="466344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112264"/>
            <a:ext cx="22860" cy="43616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2112264"/>
            <a:ext cx="22860" cy="43616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188366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PC-1 — Lead  ·  Ubuntu 24.04  ·  ROS 2 Lyrical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368296"/>
            <a:ext cx="1645920" cy="658368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423160"/>
            <a:ext cx="15179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PX4 SITL  Drone-0
ns:/fmu/ key=1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368296"/>
            <a:ext cx="1280160" cy="658368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0008" y="2423160"/>
            <a:ext cx="1152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Camera Plugin
Gazebo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9312" y="2368296"/>
            <a:ext cx="1463040" cy="658368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2423160"/>
            <a:ext cx="1335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XRCE-DDS Agent
udp4 :8888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118104"/>
            <a:ext cx="4443984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3172968"/>
            <a:ext cx="4315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lead_sensor_aggregator
/drone_0/situation @ 1Hz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639312"/>
            <a:ext cx="4443984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694176"/>
            <a:ext cx="4315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camera_detection_node
YOLOv8-nano @ 2Hz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160520"/>
            <a:ext cx="4443984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215384"/>
            <a:ext cx="4315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safety_monitor_node
bat≤15% / gps&lt;3 → RTL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681728"/>
            <a:ext cx="4443984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" y="4736592"/>
            <a:ext cx="4315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lead_agent_node
Qwen3.5 2B · Ollama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202936"/>
            <a:ext cx="4443984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5257800"/>
            <a:ext cx="4315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lead_px4_commander
10Hz OFFBOARD setpoints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724144"/>
            <a:ext cx="4443984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5779008"/>
            <a:ext cx="4315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stt_node  +  clarification_speaker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30368" y="2569464"/>
            <a:ext cx="1728216" cy="3794760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85232" y="2706624"/>
            <a:ext cx="161848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CycloneDDS
WiFi
/agent/
lead_to_wingman
/agent/
wingman_to_lead
/safety/event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4064051"/>
            <a:ext cx="109728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65776" y="3965295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  <a:latin typeface="Calibri"/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58584" y="4064051"/>
            <a:ext cx="109728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3965295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  <a:latin typeface="Calibri"/>
              </a:rPr>
              <a:t>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68312" y="2112264"/>
            <a:ext cx="466344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68312" y="6473952"/>
            <a:ext cx="466344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68312" y="2112264"/>
            <a:ext cx="22860" cy="43616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731752" y="2112264"/>
            <a:ext cx="22860" cy="43616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59752" y="188366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PC-2 — Wingman  ·  Ubuntu 24.04  ·  ROS 2 Lyrical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2368296"/>
            <a:ext cx="1645920" cy="658368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42048" y="2423160"/>
            <a:ext cx="15179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PX4 SITL  Drone-1
ns:/px4_1/fmu/ key=2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97112" y="2368296"/>
            <a:ext cx="1280160" cy="658368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0" y="2423160"/>
            <a:ext cx="1152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Camera Plugin
Gazebo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50424" y="2368296"/>
            <a:ext cx="1463040" cy="658368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14432" y="2423160"/>
            <a:ext cx="1335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XRCE-DDS Agent
udp4 :8888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78040" y="3118104"/>
            <a:ext cx="4443984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42048" y="3172968"/>
            <a:ext cx="4315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wingman_sensor_aggregator
/drone_1/situation @ 1Hz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78040" y="4160520"/>
            <a:ext cx="4443984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42048" y="4215384"/>
            <a:ext cx="4315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wingman_agent_node
Qwen3.5 2B · Ollama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5202936"/>
            <a:ext cx="4443984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42048" y="5257800"/>
            <a:ext cx="4315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wingman_px4_commander
10Hz OFFBOARD setpoints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Pilot Agent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Lead Agent shown — Wingman stack is symmetric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78308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92240"/>
            <a:ext cx="178308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16152"/>
            <a:ext cx="22860" cy="52760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40280" y="1216152"/>
            <a:ext cx="22860" cy="52760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98755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Inputs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472184"/>
            <a:ext cx="1636776" cy="936345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27048"/>
            <a:ext cx="150876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/voice_commands
STT Goal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7768" y="2408529"/>
            <a:ext cx="22860" cy="640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9012" y="2271369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472537"/>
            <a:ext cx="1636776" cy="936345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27401"/>
            <a:ext cx="150876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/drone_0/situation
1Hz sensor 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7768" y="3408883"/>
            <a:ext cx="22860" cy="640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9012" y="3271723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472891"/>
            <a:ext cx="1636776" cy="936345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27755"/>
            <a:ext cx="150876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/camera_0/detections
2Hz YOLOv8-nano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7768" y="4409236"/>
            <a:ext cx="22860" cy="640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9012" y="4272076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473244"/>
            <a:ext cx="1636776" cy="936345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28108"/>
            <a:ext cx="150876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/agent/wingman_to_lead
JSON status / 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7768" y="5409590"/>
            <a:ext cx="22860" cy="640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9012" y="5272430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5473598"/>
            <a:ext cx="1636776" cy="936345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28462"/>
            <a:ext cx="150876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/safety/event
SafetyEvent 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9152" y="1216152"/>
            <a:ext cx="7470648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59152" y="6492240"/>
            <a:ext cx="7470648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59152" y="1216152"/>
            <a:ext cx="22860" cy="52760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29800" y="1216152"/>
            <a:ext cx="22860" cy="52760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0592" y="987552"/>
            <a:ext cx="7470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lead_agent_node  —  Dual-Thread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78024" y="1472184"/>
            <a:ext cx="2350008" cy="749808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42032" y="1527048"/>
            <a:ext cx="2221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ROS 2 Spin Thread
rclpy.spin()
Handles all callbacks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9744" y="1709928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CCCC"/>
                </a:solidFill>
                <a:latin typeface="Calibri"/>
              </a:rPr>
              <a:t>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9472" y="1472184"/>
            <a:ext cx="2350008" cy="749808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3480" y="1527048"/>
            <a:ext cx="2221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threading.Lock
Shared-state
protection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1709928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CCCC"/>
                </a:solidFill>
                <a:latin typeface="Calibri"/>
              </a:rPr>
              <a:t>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1472184"/>
            <a:ext cx="2350008" cy="749808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4928" y="1527048"/>
            <a:ext cx="2221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Daemon Thread
_agent_loop()
Infinite think-act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3504" y="2221992"/>
            <a:ext cx="22860" cy="14630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4748" y="2167128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78024" y="2368296"/>
            <a:ext cx="72329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78024" y="3282696"/>
            <a:ext cx="72329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78024" y="2368296"/>
            <a:ext cx="2286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10928" y="2368296"/>
            <a:ext cx="2286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9464" y="2139696"/>
            <a:ext cx="7232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context_manager.py — Prompt Builder  (~960 tokens total)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87752" y="2606040"/>
            <a:ext cx="1351483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0" y="2660904"/>
            <a:ext cx="122346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[GOAL]
~20 tok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03243" y="2606040"/>
            <a:ext cx="1351483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251" y="2660904"/>
            <a:ext cx="122346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[SITUATION]
~80 tok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18734" y="2606040"/>
            <a:ext cx="1351483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2742" y="2660904"/>
            <a:ext cx="122346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[MEMORY]
~100 tok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34225" y="2606040"/>
            <a:ext cx="1351483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98233" y="2660904"/>
            <a:ext cx="122346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[MESSAGES]
~50 tok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49716" y="2606040"/>
            <a:ext cx="1351483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13724" y="2660904"/>
            <a:ext cx="122346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[ACTIONS ≤8]
~400 tok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3504" y="3282696"/>
            <a:ext cx="22860" cy="14630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4748" y="3227832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78024" y="3429000"/>
            <a:ext cx="72329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478024" y="4343400"/>
            <a:ext cx="723290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478024" y="3429000"/>
            <a:ext cx="2286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710928" y="3429000"/>
            <a:ext cx="2286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69464" y="3200400"/>
            <a:ext cx="7232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Inference Pipeline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87752" y="3666744"/>
            <a:ext cx="1705356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51760" y="3721608"/>
            <a:ext cx="15773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build_prompt()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74820" y="3858768"/>
            <a:ext cx="146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CCCC"/>
                </a:solidFill>
                <a:latin typeface="Calibri"/>
              </a:rPr>
              <a:t>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57116" y="3666744"/>
            <a:ext cx="1705356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21124" y="3721608"/>
            <a:ext cx="15773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Ollama API
POST /api/generate
qwen3.5:2b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44184" y="3858768"/>
            <a:ext cx="146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CCCC"/>
                </a:solidFill>
                <a:latin typeface="Calibri"/>
              </a:rPr>
              <a:t>▶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0" y="3666744"/>
            <a:ext cx="1705356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90488" y="3721608"/>
            <a:ext cx="15773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ECoT Output
{thought, tool, params}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13548" y="3858768"/>
            <a:ext cx="146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CCCC"/>
                </a:solidFill>
                <a:latin typeface="Calibri"/>
              </a:rPr>
              <a:t>▶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95844" y="3666744"/>
            <a:ext cx="1705356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59852" y="3721608"/>
            <a:ext cx="15773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3-Attempt
Retry Loop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3504" y="4343400"/>
            <a:ext cx="22860" cy="14630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84748" y="4288536"/>
            <a:ext cx="219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78024" y="4489704"/>
            <a:ext cx="512978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78024" y="6446520"/>
            <a:ext cx="5129784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478024" y="4489704"/>
            <a:ext cx="22860" cy="19568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07808" y="4489704"/>
            <a:ext cx="22860" cy="19568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569464" y="4261104"/>
            <a:ext cx="5129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Tool Registry — 19 Tools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87752" y="4745736"/>
            <a:ext cx="1179576" cy="1627632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651760" y="4800600"/>
            <a:ext cx="105156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✈ Flight
takeoff · move
hover · search
land · rtl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31336" y="4745736"/>
            <a:ext cx="1179576" cy="1627632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95344" y="4800600"/>
            <a:ext cx="105156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👁 Sensing
get_situation
scan_camera
get_battery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74920" y="4745736"/>
            <a:ext cx="1179576" cy="1627632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38928" y="4800600"/>
            <a:ext cx="105156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🗄 Memory
remember · recall
wait
mission_complete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18504" y="4745736"/>
            <a:ext cx="1179576" cy="1627632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82512" y="4800600"/>
            <a:ext cx="105156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📡 Comms
message_wingman
ask_human
notify_human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699248" y="4489704"/>
            <a:ext cx="2011680" cy="1956816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63256" y="4544568"/>
            <a:ext cx="188366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AgentMemory
SQLite
~/.ros/lead_
agent_memory.db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48672" y="1216152"/>
            <a:ext cx="178308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948672" y="6492240"/>
            <a:ext cx="178308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948672" y="1216152"/>
            <a:ext cx="22860" cy="52760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731752" y="1216152"/>
            <a:ext cx="22860" cy="52760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40112" y="98755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Outputs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21824" y="1472184"/>
            <a:ext cx="1636776" cy="118643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85832" y="1527048"/>
            <a:ext cx="1508760" cy="1094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/lead/approved_intent
FlightIntent JSON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21824" y="2722626"/>
            <a:ext cx="1636776" cy="118643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85832" y="2777490"/>
            <a:ext cx="1508760" cy="1094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/agent/lead_to_wingman
NL order to Wingman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21824" y="3973068"/>
            <a:ext cx="1636776" cy="118643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85832" y="4027932"/>
            <a:ext cx="1508760" cy="1094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/clarification_request
TTS to operator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21824" y="5223510"/>
            <a:ext cx="1636776" cy="1186434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085832" y="5278374"/>
            <a:ext cx="1508760" cy="1094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alibri"/>
              </a:rPr>
              <a:t>/mission_status
JSON {lead, wingman}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Four-Layer Hybrid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11274552" cy="130987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0149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1  ·  Sensor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945368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YOLOv8-nano @ 2Hz  +  PX4 telemetry (position, velocity, battery, GPS)  →  situation string @ 1Hz injected into every inference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7316" y="2242566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43150"/>
            <a:ext cx="11274552" cy="130987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3459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2  ·  Safety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818638"/>
            <a:ext cx="10945368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Deterministic.  No SLM involved.  battery ≤ 15% → RTL.  GPS fix &lt; 3D → RTL.  VehicleCommand published ×3.  Cannot be overridden.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6" y="366217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62756"/>
            <a:ext cx="11274552" cy="130987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8541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3  ·  Intelligence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238244"/>
            <a:ext cx="10945368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Qwen3.5 2B via Ollama.  ECoT think-act loop.  19-tool registry.  SQLite memory.  3-attempt retry.  ~960 token context per cycle.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7316" y="5081778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82362"/>
            <a:ext cx="11274552" cy="130987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27380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4  ·  Execution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657850"/>
            <a:ext cx="10945368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FlightIntent JSON  →  PX4 OFFBOARD position setpoints @ 10Hz.  NED frame translation.  Continuous heartbeat prevents mode timeout.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Intelligence Layer — Agent Loop &amp; ECoT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5120640" cy="1040587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996696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① Sensor data 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44168"/>
            <a:ext cx="4864608" cy="565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ROS 2 callbacks fire: situation string, YOLO detections,
peer messages, safety events all update shared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1973275"/>
            <a:ext cx="21945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5571"/>
            <a:ext cx="5120640" cy="1040587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128723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② Prompt assembled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476195"/>
            <a:ext cx="4864608" cy="565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context_manager.build_prompt() collects 6 sections:
system · goal · situation · memory · messages ·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3105302"/>
            <a:ext cx="21945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87598"/>
            <a:ext cx="5120640" cy="1040587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260750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③ Ollama HTTP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3608222"/>
            <a:ext cx="4864608" cy="565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POST /api/generate → qwen3.5:2b (num_ctx=8192).
Inference latency: 3–8 s on AMD Radeon Pro W5500.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4237329"/>
            <a:ext cx="21945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19625"/>
            <a:ext cx="5120640" cy="1040587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4392777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④ ECoT JSON parsed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740249"/>
            <a:ext cx="4864608" cy="565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Extracts {thought, tool, params}. Invalid JSON/tool name
appended as error context; retried up to 3 times.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5369356"/>
            <a:ext cx="21945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51652"/>
            <a:ext cx="5120640" cy="1040587"/>
          </a:xfrm>
          <a:prstGeom prst="rect">
            <a:avLst/>
          </a:prstGeom>
          <a:solidFill>
            <a:srgbClr val="EEEEEE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5524804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⑤ Tool dispatched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5872276"/>
            <a:ext cx="4864608" cy="565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Result logged to sliding action window (≤ 8 entries).
Cycle skipped silently if all 3 attempts fail.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923544"/>
            <a:ext cx="5833872" cy="1783080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5896" y="101498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ECoT Output Schema  (enforced by system prompt)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5896" y="1380744"/>
            <a:ext cx="557784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{
  "thought": "Obstacle ahead — hover and scan.",
  "tool": "hover",
  "params": {}
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871216"/>
            <a:ext cx="5833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Token Budget per Inference Cycle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3218688"/>
            <a:ext cx="4370832" cy="363728"/>
          </a:xfrm>
          <a:prstGeom prst="rect">
            <a:avLst/>
          </a:prstGeom>
          <a:solidFill>
            <a:srgbClr val="CCCCCC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68712" y="3218688"/>
            <a:ext cx="1463040" cy="363728"/>
          </a:xfrm>
          <a:prstGeom prst="rect">
            <a:avLst/>
          </a:prstGeom>
          <a:solidFill>
            <a:srgbClr val="CCCCCC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71032" y="3255264"/>
            <a:ext cx="422452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Context Section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05288" y="3255264"/>
            <a:ext cx="138988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libri"/>
              </a:rPr>
              <a:t>Tokens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3582416"/>
            <a:ext cx="4370832" cy="3637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68712" y="3582416"/>
            <a:ext cx="1463040" cy="3637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71032" y="3618992"/>
            <a:ext cx="422452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System prompt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5288" y="3618992"/>
            <a:ext cx="138988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000000"/>
                </a:solidFill>
                <a:latin typeface="Calibri"/>
              </a:rPr>
              <a:t>~300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3946144"/>
            <a:ext cx="4370832" cy="3637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68712" y="3946144"/>
            <a:ext cx="1463040" cy="3637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3982720"/>
            <a:ext cx="422452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Mission goal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05288" y="3982720"/>
            <a:ext cx="138988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000000"/>
                </a:solidFill>
                <a:latin typeface="Calibri"/>
              </a:rPr>
              <a:t>~20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4309872"/>
            <a:ext cx="4370832" cy="3637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68712" y="4309872"/>
            <a:ext cx="1463040" cy="3637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71032" y="4346448"/>
            <a:ext cx="422452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Situation string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05288" y="4346448"/>
            <a:ext cx="138988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000000"/>
                </a:solidFill>
                <a:latin typeface="Calibri"/>
              </a:rPr>
              <a:t>~80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4673600"/>
            <a:ext cx="4370832" cy="3637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68712" y="4673600"/>
            <a:ext cx="1463040" cy="3637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71032" y="4710176"/>
            <a:ext cx="422452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Memory recall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05288" y="4710176"/>
            <a:ext cx="138988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000000"/>
                </a:solidFill>
                <a:latin typeface="Calibri"/>
              </a:rPr>
              <a:t>~100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97880" y="5037328"/>
            <a:ext cx="4370832" cy="3637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68712" y="5037328"/>
            <a:ext cx="1463040" cy="3637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5073904"/>
            <a:ext cx="422452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Agent messages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05288" y="5073904"/>
            <a:ext cx="138988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000000"/>
                </a:solidFill>
                <a:latin typeface="Calibri"/>
              </a:rPr>
              <a:t>~50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7880" y="5401056"/>
            <a:ext cx="4370832" cy="3637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68712" y="5401056"/>
            <a:ext cx="1463040" cy="3637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71032" y="5437632"/>
            <a:ext cx="422452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Action history (≤8)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05288" y="5437632"/>
            <a:ext cx="138988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000000"/>
                </a:solidFill>
                <a:latin typeface="Calibri"/>
              </a:rPr>
              <a:t>~400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7880" y="5764784"/>
            <a:ext cx="4370832" cy="363728"/>
          </a:xfrm>
          <a:prstGeom prst="rect">
            <a:avLst/>
          </a:prstGeom>
          <a:solidFill>
            <a:srgbClr val="CCCCCC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68712" y="5764784"/>
            <a:ext cx="1463040" cy="363728"/>
          </a:xfrm>
          <a:prstGeom prst="rect">
            <a:avLst/>
          </a:prstGeom>
          <a:solidFill>
            <a:srgbClr val="CCCCCC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71032" y="5801360"/>
            <a:ext cx="422452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Total per cycle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05288" y="5801360"/>
            <a:ext cx="138988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libri"/>
              </a:rPr>
              <a:t>~950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7880" y="6128512"/>
            <a:ext cx="4370832" cy="3637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268712" y="6128512"/>
            <a:ext cx="1463040" cy="3637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71032" y="6165088"/>
            <a:ext cx="422452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Output (tool call JSON)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05288" y="6165088"/>
            <a:ext cx="1389888" cy="30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000000"/>
                </a:solidFill>
                <a:latin typeface="Calibri"/>
              </a:rPr>
              <a:t>~40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Tool Registry — 19 Tools per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2167128" cy="658368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987552"/>
            <a:ext cx="2020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Flight
(Both)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81912"/>
            <a:ext cx="2167128" cy="765048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627632"/>
            <a:ext cx="2039112" cy="691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takeoff(altitude)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01824"/>
            <a:ext cx="2167128" cy="765048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447544"/>
            <a:ext cx="2039112" cy="691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move(direction, dist)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21736"/>
            <a:ext cx="2167128" cy="765048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3267456"/>
            <a:ext cx="2039112" cy="691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hover()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41648"/>
            <a:ext cx="2167128" cy="765048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4087368"/>
            <a:ext cx="2039112" cy="691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search(duration_sec)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61560"/>
            <a:ext cx="2167128" cy="765048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4907280"/>
            <a:ext cx="2039112" cy="691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land()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81472"/>
            <a:ext cx="2167128" cy="765048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5727192"/>
            <a:ext cx="2039112" cy="691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rtl()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34056" y="923544"/>
            <a:ext cx="2167128" cy="658368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7208" y="987552"/>
            <a:ext cx="2020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Sensing
(Both)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34056" y="1581912"/>
            <a:ext cx="2167128" cy="1584960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98064" y="1627632"/>
            <a:ext cx="2039112" cy="151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get_situation()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34056" y="3221736"/>
            <a:ext cx="2167128" cy="1584960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8064" y="3267456"/>
            <a:ext cx="2039112" cy="151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scan_camera()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34056" y="4861560"/>
            <a:ext cx="2167128" cy="1584960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98064" y="4907280"/>
            <a:ext cx="2039112" cy="151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get_battery()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0912" y="923544"/>
            <a:ext cx="2167128" cy="658368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987552"/>
            <a:ext cx="2020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Memory
(Both)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0912" y="1581912"/>
            <a:ext cx="2167128" cy="1175004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1627632"/>
            <a:ext cx="2039112" cy="1101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remember(fact)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10912" y="2811780"/>
            <a:ext cx="2167128" cy="11750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2857500"/>
            <a:ext cx="2039112" cy="1101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recall(query)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10912" y="4041648"/>
            <a:ext cx="2167128" cy="1175004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087368"/>
            <a:ext cx="2039112" cy="1101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wait(seconds)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10912" y="5271516"/>
            <a:ext cx="2167128" cy="1175004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5317236"/>
            <a:ext cx="2039112" cy="1101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mission_complete(report)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87768" y="923544"/>
            <a:ext cx="2167128" cy="658368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987552"/>
            <a:ext cx="2020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Lead-only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87768" y="1581912"/>
            <a:ext cx="2167128" cy="1584960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51776" y="1627632"/>
            <a:ext cx="2039112" cy="151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message_wingman(msg, type)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87768" y="3221736"/>
            <a:ext cx="2167128" cy="1584960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6" y="3267456"/>
            <a:ext cx="2039112" cy="151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ask_human(question)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87768" y="4861560"/>
            <a:ext cx="2167128" cy="1584960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51776" y="4907280"/>
            <a:ext cx="2039112" cy="151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notify_human(message)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64624" y="923544"/>
            <a:ext cx="2167128" cy="658368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37776" y="987552"/>
            <a:ext cx="2020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Wingman-only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64624" y="1581912"/>
            <a:ext cx="2167128" cy="1584960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28632" y="1627632"/>
            <a:ext cx="2039112" cy="151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message_lead(msg, type)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64624" y="3221736"/>
            <a:ext cx="2167128" cy="1584960"/>
          </a:xfrm>
          <a:prstGeom prst="rect">
            <a:avLst/>
          </a:prstGeom>
          <a:solidFill>
            <a:srgbClr val="FFFFFF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28632" y="3267456"/>
            <a:ext cx="2039112" cy="151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ask_lead(question)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64624" y="4861560"/>
            <a:ext cx="2167128" cy="1584960"/>
          </a:xfrm>
          <a:prstGeom prst="rect">
            <a:avLst/>
          </a:prstGeom>
          <a:solidFill>
            <a:srgbClr val="EEEEEE"/>
          </a:solidFill>
          <a:ln w="50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28632" y="4907280"/>
            <a:ext cx="2039112" cy="151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notify_lead(message)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★  Only Lead has ask_human &amp; notify_human — Wingman cannot contact the operator (single-command-authority principle)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Safety Architecture — Deterministic, No SLM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</a:pPr>
            <a:r>
              <a:rPr sz="1800" b="0">
                <a:solidFill>
                  <a:srgbClr val="000000"/>
                </a:solidFill>
                <a:latin typeface="Calibri"/>
              </a:rPr>
              <a:t>  •  safety_monitor_node — runs independently of the agent inference loop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Monitors BOTH drones simultaneously from PC-1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Issues VehicleCommand NAV_CMD_RETURN_TO_LAUNCH × 3 on trigger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Cannot be overridden by any model output — by architectural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52344"/>
            <a:ext cx="3108960" cy="749808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8950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Condition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752344"/>
            <a:ext cx="2103120" cy="749808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88950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Threshold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752344"/>
            <a:ext cx="5760720" cy="749808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889504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02152"/>
            <a:ext cx="3108960" cy="74980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Battery (warn)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502152"/>
            <a:ext cx="2103120" cy="74980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63931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≤ 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502152"/>
            <a:ext cx="5760720" cy="74980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363931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Publish /safety/event warning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51960"/>
            <a:ext cx="310896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Battery (RTL)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4251960"/>
            <a:ext cx="210312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389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≤ 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4251960"/>
            <a:ext cx="576072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43891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Force RTL on that drone (×3 cmd)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01768"/>
            <a:ext cx="3108960" cy="74980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3892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GPS fix 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5001768"/>
            <a:ext cx="2103120" cy="74980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513892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&lt; 3  (no 3D)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5001768"/>
            <a:ext cx="5760720" cy="74980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513892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Force RTL on that drone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34456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555555"/>
                </a:solidFill>
                <a:latin typeface="Calibri"/>
              </a:rPr>
              <a:t>Result: Zero safety overrides triggered during all 8 nominal test missions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Inter-Agent Communication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</a:pPr>
            <a:r>
              <a:rPr sz="1800" b="0">
                <a:solidFill>
                  <a:srgbClr val="000000"/>
                </a:solidFill>
                <a:latin typeface="Calibri"/>
              </a:rPr>
              <a:t>  •  Two dedicated ROS 2 topics bridge Lead and Wingman over CycloneDDS WiFi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/agent/lead_to_wingman  — natural language task orders from Lead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/agent/wingman_to_lead  — structured JSON status/ack from Wingman</a:t>
            </a:r>
          </a:p>
          <a:p>
            <a:pPr algn="l">
              <a:spcBef>
                <a:spcPts val="900"/>
              </a:spcBef>
            </a:pPr>
            <a:r>
              <a:rPr sz="1800" b="0">
                <a:solidFill>
                  <a:srgbClr val="000000"/>
                </a:solidFill>
                <a:latin typeface="Calibri"/>
              </a:rPr>
              <a:t>  •  Strict hierarchy: Lead is the sole human interface — Wingman never contacts operator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23744"/>
            <a:ext cx="5500116" cy="3968496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2615184"/>
            <a:ext cx="52440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Lead  →  Wingman  (task)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3044952"/>
            <a:ext cx="5244084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"Fly east 50 m at 10 m altitude
and report any detections found."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2523744"/>
            <a:ext cx="5500116" cy="3968496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9652" y="2615184"/>
            <a:ext cx="52440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Wingman  →  Lead  (status JSON)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9652" y="3044952"/>
            <a:ext cx="5244084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{
  "type": "status",
  "content": "Reached east sector.
  No objects detected. Hovering."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libri"/>
              </a:rPr>
              <a:t>Full mission: 9 messages total  ·  &lt; 1.1 KB total bandwidth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2377440" cy="566928"/>
          </a:xfrm>
          <a:prstGeom prst="rect">
            <a:avLst/>
          </a:prstGeom>
          <a:solidFill>
            <a:srgbClr val="CCCCCC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1498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923544"/>
            <a:ext cx="4297680" cy="566928"/>
          </a:xfrm>
          <a:prstGeom prst="rect">
            <a:avLst/>
          </a:prstGeom>
          <a:solidFill>
            <a:srgbClr val="CCCCCC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01498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PC-1 (Lead)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923544"/>
            <a:ext cx="4297680" cy="566928"/>
          </a:xfrm>
          <a:prstGeom prst="rect">
            <a:avLst/>
          </a:prstGeom>
          <a:solidFill>
            <a:srgbClr val="CCCCCC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01498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PC-2 (Wingman)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2377440" cy="5669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490472"/>
            <a:ext cx="4297680" cy="5669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581912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Dell Precision 3650 Tower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490472"/>
            <a:ext cx="4297680" cy="5669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581912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Dell Precision 3650 Tower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57400"/>
            <a:ext cx="2377440" cy="5669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148840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CPU / 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057400"/>
            <a:ext cx="4297680" cy="5669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148840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Intel Core i5  ·  16 GB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2057400"/>
            <a:ext cx="4297680" cy="5669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148840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Intel Core i5  ·  16 GB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24328"/>
            <a:ext cx="2377440" cy="5669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71576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GPU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624328"/>
            <a:ext cx="4297680" cy="5669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715768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AMD Radeon Pro W5500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2624328"/>
            <a:ext cx="4297680" cy="5669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715768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AMD Radeon Pro W5500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191256"/>
            <a:ext cx="2377440" cy="5669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8269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OS / ROS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191256"/>
            <a:ext cx="4297680" cy="5669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3282696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Ubuntu 24.04 LTS  ·  ROS 2 Lyrical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3191256"/>
            <a:ext cx="4297680" cy="566928"/>
          </a:xfrm>
          <a:prstGeom prst="rect">
            <a:avLst/>
          </a:prstGeom>
          <a:solidFill>
            <a:srgbClr val="EEEEEE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282696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Ubuntu 24.04 LTS  ·  ROS 2 Lyrical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58184"/>
            <a:ext cx="2377440" cy="5669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84962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SLM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3758184"/>
            <a:ext cx="4297680" cy="5669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384962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Qwen3.5 2B via Ollama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3758184"/>
            <a:ext cx="4297680" cy="566928"/>
          </a:xfrm>
          <a:prstGeom prst="rect">
            <a:avLst/>
          </a:prstGeom>
          <a:solidFill>
            <a:srgbClr val="FFFFFF"/>
          </a:solidFill>
          <a:ln w="444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384962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Qwen3.5 2B via Ollama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07992"/>
            <a:ext cx="11274552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</a:pPr>
            <a:r>
              <a:rPr sz="1800" b="0">
                <a:solidFill>
                  <a:srgbClr val="000000"/>
                </a:solidFill>
                <a:latin typeface="Calibri"/>
              </a:rPr>
              <a:t>  •  PX4 SITL + Gazebo Harmonic — world: baylands  (PX4_GZ_WORLD=baylands)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Drone model: x500_mono_cam  (monocular camera + IMU + GPS)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Camera bridge: ros_gz_bridge  /world/baylands/...image → /camera/image_raw</a:t>
            </a:r>
          </a:p>
          <a:p>
            <a:pPr algn="l">
              <a:spcBef>
                <a:spcPts val="900"/>
              </a:spcBef>
            </a:pPr>
            <a:r>
              <a:rPr sz="1800" b="0">
                <a:solidFill>
                  <a:srgbClr val="000000"/>
                </a:solidFill>
                <a:latin typeface="Calibri"/>
              </a:rPr>
              <a:t>  •  8 independent SITL flights across 3 scenario types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Test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11274552" cy="1746504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014984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A  —  Nominal Coordination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417320"/>
            <a:ext cx="11018520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Voice: "Fly 10 m north, have wingman hold position."
Both drones execute without safety overrides.
Measures: message count, execution time, separation distance.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74552" cy="1746504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926080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B  —  Vision-Triggered Path Alteration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328416"/>
            <a:ext cx="11018520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Gazebo model (person / vehicle) placed in drone camera FOV.
SLM interprets YOLOv8 detection → autonomously alters search pattern.
Expected response: hover + notify_human (NOT ask_human).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45736"/>
            <a:ext cx="11274552" cy="1746504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837176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C  —  Safety Fallback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5239512"/>
            <a:ext cx="11018520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Invalid command issued: "fly to altitude −500 metres".
Deterministic safety_monitor_node intercepts — not the SLM.
Expected: RTL issued with zero SLM involvement.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Key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3624072" cy="26929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3294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Mission Success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3294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Calibri"/>
              </a:rPr>
              <a:t>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40964"/>
            <a:ext cx="3294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6 of 8 flights without manual intervention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2440" y="923544"/>
            <a:ext cx="3624072" cy="26929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7032" y="1051560"/>
            <a:ext cx="3294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Envelope 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7032" y="1399032"/>
            <a:ext cx="3294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032" y="3140964"/>
            <a:ext cx="3294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6 Lead→Wingman  +  3 Wingman→Lead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923544"/>
            <a:ext cx="3624072" cy="26929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2272" y="1051560"/>
            <a:ext cx="3294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Total Bandwidth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2272" y="1399032"/>
            <a:ext cx="3294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Calibri"/>
              </a:rPr>
              <a:t>&lt; 1.1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2272" y="3140964"/>
            <a:ext cx="3294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~120 B per message  ·  356.86 s 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9332"/>
            <a:ext cx="3624072" cy="26929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927348"/>
            <a:ext cx="3294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Safety 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274820"/>
            <a:ext cx="3294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Calibri"/>
              </a:rPr>
              <a:t>73 ticks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016752"/>
            <a:ext cx="3294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~0.20 Hz  ·  zero RTL overrides triggered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2440" y="3799332"/>
            <a:ext cx="3624072" cy="26929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7032" y="3927348"/>
            <a:ext cx="3294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Min. Separation  D_min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7032" y="4274820"/>
            <a:ext cx="3294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Calibri"/>
              </a:rPr>
              <a:t>0.02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7032" y="6016752"/>
            <a:ext cx="3294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At SITL init only — zero in-flight collisions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7680" y="3799332"/>
            <a:ext cx="3624072" cy="26929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2272" y="3927348"/>
            <a:ext cx="3294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Inference 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2272" y="4274820"/>
            <a:ext cx="3294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Calibri"/>
              </a:rPr>
              <a:t>3 – 8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2272" y="6016752"/>
            <a:ext cx="3294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15–30 TPS  ·  12% context window utilisation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Failure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75% of inference cycles succeeded — tool call valid, parsed and executed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63624"/>
            <a:ext cx="11274552" cy="15880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655064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12%  Format Hallucination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57400"/>
            <a:ext cx="11018520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SLM output failed JSON validation on all 3 retry attempts.
Cycle skipped silently — flight continues on last known setpoint.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16224"/>
            <a:ext cx="11274552" cy="15880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407664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8%  Physical Hallucination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810000"/>
            <a:ext cx="11018520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Valid tool name, impossible parameter (e.g. distance: 0 m).
Commander receives no-op, publishes warning, heartbeat continues.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68824"/>
            <a:ext cx="11274552" cy="15880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5160264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5%  Coordination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562600"/>
            <a:ext cx="11018520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Lead emitted mission_complete before Wingman ACK received.
Premature termination — Wingman left hovering autonomously.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3624072" cy="55504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014984"/>
            <a:ext cx="3368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Hybrid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417320"/>
            <a:ext cx="3368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Strict Safety–Intelligence separation was the critical enabler.
Dangerous commands intercepted before reaching the flight stack.
Mirrors established avionics safety patterns.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2440" y="923544"/>
            <a:ext cx="3624072" cy="55504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0456" y="1014984"/>
            <a:ext cx="3368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ECoT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0456" y="1417320"/>
            <a:ext cx="3368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Mandatory thought field forces self-supervision before action.
Removing it raises format hallucination from &lt;5% to &gt;20%.
Logically inconsistent actions self-corrected in reasoning trace.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7680" y="923544"/>
            <a:ext cx="3624072" cy="55504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5696" y="1014984"/>
            <a:ext cx="3368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Bandwidth 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5696" y="1417320"/>
            <a:ext cx="3368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9 natural-language messages vs. continuous binary control streams.
Communication overhead: ~30–72 s (~8–20% of mission time).
Acceptable for most swarm applications.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23544"/>
            <a:ext cx="2681478" cy="55504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014984"/>
            <a:ext cx="242544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SITL Fidelity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417320"/>
            <a:ext cx="2425446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D_min = 0.02 m artefact from shared virtual origin at init.
Physical hardware tests required.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1558" y="923544"/>
            <a:ext cx="2681478" cy="55504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9574" y="1014984"/>
            <a:ext cx="242544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Scalability  (N &gt;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9574" y="1417320"/>
            <a:ext cx="2425446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Architecture hard-coded for exactly 2 drones.
Needs dynamic roster + per-agent context isolation.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5916" y="923544"/>
            <a:ext cx="2681478" cy="55504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3932" y="1014984"/>
            <a:ext cx="242544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Model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3932" y="1417320"/>
            <a:ext cx="2425446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Qwen3.5 2B is minimum viable.
7B/14B may improve MSR at cost of higher latency.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0274" y="923544"/>
            <a:ext cx="2681478" cy="55504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8290" y="1014984"/>
            <a:ext cx="242544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Persistent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8290" y="1417320"/>
            <a:ext cx="2425446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SQLite has no automated expiry.
Stale context risk in long-duration missions.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73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4552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</a:pPr>
            <a:r>
              <a:rPr sz="1800" b="0">
                <a:solidFill>
                  <a:srgbClr val="000000"/>
                </a:solidFill>
                <a:latin typeface="Calibri"/>
              </a:rPr>
              <a:t>  •  Edgents proves that a 2B-parameter SLM on commodity hardware can: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Accept spoken natural-language mission goals via STT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Coordinate two autonomous drones through a sparse 9-message protocol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Maintain safety via a deterministic layer the SLM cannot override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Achieve 75% mission success over 8 SITL flights</a:t>
            </a:r>
          </a:p>
          <a:p>
            <a:pPr algn="l">
              <a:spcBef>
                <a:spcPts val="300"/>
              </a:spcBef>
            </a:pPr>
            <a:r>
              <a:rPr sz="1500" b="0">
                <a:solidFill>
                  <a:srgbClr val="000000"/>
                </a:solidFill>
                <a:latin typeface="Calibri"/>
              </a:rPr>
              <a:t>    –  Operate with &lt; 1.1 KB inter-agent bandwidth per mission</a:t>
            </a:r>
          </a:p>
          <a:p>
            <a:pPr algn="l">
              <a:spcBef>
                <a:spcPts val="900"/>
              </a:spcBef>
            </a:pPr>
            <a:r>
              <a:rPr sz="1800" b="0">
                <a:solidFill>
                  <a:srgbClr val="000000"/>
                </a:solidFill>
                <a:latin typeface="Calibri"/>
              </a:rPr>
              <a:t>  •  Key insight: the hybrid architecture is the enabling principle — not raw model capability</a:t>
            </a:r>
          </a:p>
          <a:p>
            <a:pPr algn="l">
              <a:spcBef>
                <a:spcPts val="900"/>
              </a:spcBef>
            </a:pPr>
            <a:r>
              <a:rPr sz="1800" b="0">
                <a:solidFill>
                  <a:srgbClr val="000000"/>
                </a:solidFill>
                <a:latin typeface="Calibri"/>
              </a:rPr>
              <a:t>  •  Opens a path to resilient, privacy-preserving, network-independent drone coordination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897880"/>
            <a:ext cx="11274552" cy="749808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989320"/>
            <a:ext cx="11000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Calibri"/>
              </a:rPr>
              <a:t>Thank you  —  Questions welcome
202511004@dau.ac.in  ·  Dhirubhai Ambani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